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33"/>
    <p:sldId id="264" r:id="rId34"/>
    <p:sldId id="265" r:id="rId35"/>
    <p:sldId id="266" r:id="rId36"/>
    <p:sldId id="267" r:id="rId37"/>
    <p:sldId id="268" r:id="rId38"/>
    <p:sldId id="269" r:id="rId39"/>
  </p:sldIdLst>
  <p:sldSz cy="6858000" cx="12192000"/>
  <p:notesSz cx="6858000" cy="9144000"/>
  <p:embeddedFontLst>
    <p:embeddedFont>
      <p:font typeface="Inter Light"/>
      <p:regular r:id="rId13"/>
      <p:bold r:id="rId14"/>
      <p:italic r:id="rId15"/>
      <p:boldItalic r:id="rId16"/>
    </p:embeddedFont>
    <p:embeddedFont>
      <p:font typeface="Inter SemiBold"/>
      <p:regular r:id="rId17"/>
      <p:bold r:id="rId18"/>
      <p:italic r:id="rId19"/>
      <p:boldItalic r:id="rId20"/>
    </p:embeddedFont>
    <p:embeddedFont>
      <p:font typeface="Playfair Display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ayfair Display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InterLight-regular.fntdata"/><Relationship Id="rId14" Type="http://schemas.openxmlformats.org/officeDocument/2006/relationships/font" Target="fonts/InterLight-bold.fntdata"/><Relationship Id="rId15" Type="http://schemas.openxmlformats.org/officeDocument/2006/relationships/font" Target="fonts/InterLight-italic.fntdata"/><Relationship Id="rId16" Type="http://schemas.openxmlformats.org/officeDocument/2006/relationships/font" Target="fonts/InterLight-boldItalic.fntdata"/><Relationship Id="rId17" Type="http://schemas.openxmlformats.org/officeDocument/2006/relationships/font" Target="fonts/InterSemiBold-regular.fntdata"/><Relationship Id="rId18" Type="http://schemas.openxmlformats.org/officeDocument/2006/relationships/font" Target="fonts/InterSemiBold-bold.fntdata"/><Relationship Id="rId19" Type="http://schemas.openxmlformats.org/officeDocument/2006/relationships/font" Target="fonts/InterSemiBold-italic.fntdata"/><Relationship Id="rId20" Type="http://schemas.openxmlformats.org/officeDocument/2006/relationships/font" Target="fonts/InterSemiBold-boldItalic.fntdata"/><Relationship Id="rId21" Type="http://schemas.openxmlformats.org/officeDocument/2006/relationships/font" Target="fonts/PlayfairDisplay-regular.fntdata"/><Relationship Id="rId22" Type="http://schemas.openxmlformats.org/officeDocument/2006/relationships/font" Target="fonts/PlayfairDisplay-bold.fntdata"/><Relationship Id="rId23" Type="http://schemas.openxmlformats.org/officeDocument/2006/relationships/font" Target="fonts/PlayfairDisplay-italic.fntdata"/><Relationship Id="rId24" Type="http://schemas.openxmlformats.org/officeDocument/2006/relationships/font" Target="fonts/PlayfairDisplay-boldItalic.fntdata"/><Relationship Id="rId25" Type="http://schemas.openxmlformats.org/officeDocument/2006/relationships/font" Target="fonts/Inter-regular.fntdata"/><Relationship Id="rId26" Type="http://schemas.openxmlformats.org/officeDocument/2006/relationships/font" Target="fonts/Inter-bold.fntdata"/><Relationship Id="rId27" Type="http://schemas.openxmlformats.org/officeDocument/2006/relationships/font" Target="fonts/Inter-italic.fntdata"/><Relationship Id="rId28" Type="http://schemas.openxmlformats.org/officeDocument/2006/relationships/font" Target="fonts/Inter-boldItalic.fntdata"/><Relationship Id="rId29" Type="http://schemas.openxmlformats.org/officeDocument/2006/relationships/font" Target="fonts/PlayfairDisplaySemiBold-regular.fntdata"/><Relationship Id="rId30" Type="http://schemas.openxmlformats.org/officeDocument/2006/relationships/font" Target="fonts/PlayfairDisplaySemiBold-bold.fntdata"/><Relationship Id="rId31" Type="http://schemas.openxmlformats.org/officeDocument/2006/relationships/font" Target="fonts/PlayfairDisplaySemiBold-italic.fntdata"/><Relationship Id="rId32" Type="http://schemas.openxmlformats.org/officeDocument/2006/relationships/font" Target="fonts/PlayfairDisplaySemiBold-boldItalic.fntdata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f1e244d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d2f1e244d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2f1e244d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2f1e244d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286148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AI/ML in Practice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2857648"/>
            <a:ext cx="112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Red Teaming Agentic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69000" y="3850475"/>
            <a:ext cx="9054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Capstone Project: IIT Bombay EPGD AI/ML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7200" y="2205037"/>
            <a:ext cx="3352800" cy="34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04900" y="3233737"/>
            <a:ext cx="233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Agentic AI in Finance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04900" y="3738562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LLM-based agents are making autonomous trading decisions on commodity markets worth trillions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62500" y="3233737"/>
            <a:ext cx="243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No Systematic Testing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62500" y="3738562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No established framework exists to red-team domain-specific agentic AI systems for vulnerabilities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20100" y="3233737"/>
            <a:ext cx="195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Real Financial Risk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0100" y="3738562"/>
            <a:ext cx="27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 single manipulated trade recommendation can cause millions in losses -- 5% price error cascades to $10M+ impact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4900" y="26241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0" y="262413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0100" y="26241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Problem Statement and Motivation (The “Why”)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930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66800" y="1847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CommodityRedTeam: A research framework with 50 domain-specific attacks across 7 vulnerability categories (prompt injection, tool manipulation, reasoning hijacking, etc.)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66800" y="30289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5 layered defense strategies: input filtering, output validation, system prompt hardening, multi-agent verification, and human-in-the-loop review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66800" y="4514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Automated evaluation pipeline with ASR, detection rate, financial impact metrics, and statistical significance testing (chi-squared, Cohen's h)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Proposed Solution (The “What”)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 Sources and Tools to be Used (The “How”) 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66800" y="1847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LLMs: Groq LPU (Llama 3.3 70B, Qwen3 32B, Llama 4 Scout), Google Gemini, Mistral -- all free-tier APIs via OpenAI-compatible endpoints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066800" y="30289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Tools &amp; Frameworks: Python, LangChain (agent + tool calling), yfinance (real market data), Rich (CLI), Matplotlib/Seaborn (viz), scipy/statsmodels (statistics)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66800" y="4514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Target Agent: Commodity trading agent with 7 tools (price, news, risk, fundamentals, correlation, position limits, recommendation) -- each with switchable attack modes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762000" y="3914775"/>
            <a:ext cx="10668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03340" y="4210050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Build Agent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57250" y="4543425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LLM trading agent</a:t>
            </a:r>
            <a:br/>
            <a:r>
              <a:t>with 7 tools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3577050" y="2466975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Design Attacks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630959" y="2800350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50 attacks across</a:t>
            </a:r>
            <a:br/>
            <a:r>
              <a:t>7 categories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350760" y="4210050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Implement Defenses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404669" y="4543425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5 defense strategies</a:t>
            </a:r>
            <a:br/>
            <a:r>
              <a:t>layered approach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9124470" y="2466975"/>
            <a:ext cx="22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Benchmark &amp; Report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178379" y="2800350"/>
            <a:ext cx="215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Automated pipeline</a:t>
            </a:r>
            <a:br/>
            <a:r>
              <a:t>statistical analysis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1849710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623420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397129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0170839" y="38385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Scope and </a:t>
            </a:r>
            <a:r>
              <a:rPr b="0" i="0" lang="en-US" sz="3600" u="none" cap="none" strike="noStrike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Implementation Roadmap (The </a:t>
            </a: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“When”</a:t>
            </a:r>
            <a:r>
              <a:rPr b="0" i="0" lang="en-US" sz="3600" u="none" cap="none" strike="noStrike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930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066800" y="1847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CommodityAgentThreat Taxonomy: First vulnerability classification for LLM-based financial trading agents (7 categories, 50 attacks)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066800" y="30289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Cross-model vulnerability comparison: Qwen3 32B vs Llama 4 Scout -- different models need different defense strategies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066800" y="4514850"/>
            <a:ext cx="47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Empirical defense evaluation: Layered defenses reduce ASR from 38-42% to 0-12% with statistical significance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Key Deliverables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495300" y="2353567"/>
            <a:ext cx="112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Discussion &amp; </a:t>
            </a:r>
            <a:r>
              <a:rPr b="1" lang="en-US" sz="5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Feedback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Benchmark Results: ASR by Defense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1400000"/>
          <a:ext cx="106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400000"/>
                <a:gridCol w="1600000"/>
                <a:gridCol w="2000000"/>
                <a:gridCol w="2400000"/>
              </a:tblGrid>
              <a:tr h="280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ASR %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%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($M)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29.0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104.5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142.5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112.5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all_combined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32.0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125.5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99.5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129.0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groq-scout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all_combined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Attack Success Rate by Category</a:t>
            </a:r>
          </a:p>
        </p:txBody>
      </p:sp>
      <p:pic>
        <p:nvPicPr>
          <p:cNvPr id="112" name="Picture 111" descr="heatmap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400000"/>
            <a:ext cx="9800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Defense Effectiveness Comparison</a:t>
            </a:r>
          </a:p>
        </p:txBody>
      </p:sp>
      <p:pic>
        <p:nvPicPr>
          <p:cNvPr id="130" name="Picture 129" descr="barchart_defense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00000"/>
            <a:ext cx="10668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Model Vulnerability Profiles</a:t>
            </a:r>
          </a:p>
        </p:txBody>
      </p:sp>
      <p:pic>
        <p:nvPicPr>
          <p:cNvPr id="112" name="Picture 111" descr="radar_vulner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300000"/>
            <a:ext cx="92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Detection Coverage by Defense</a:t>
            </a:r>
          </a:p>
        </p:txBody>
      </p:sp>
      <p:pic>
        <p:nvPicPr>
          <p:cNvPr id="130" name="Picture 129" descr="heatmap_detection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400000"/>
            <a:ext cx="9800000" cy="50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Defense Effectiveness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groq-qwen (Qwen3 32B)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1700000"/>
          <a:ext cx="5000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1800000"/>
                <a:gridCol w="1000000"/>
                <a:gridCol w="1400000"/>
              </a:tblGrid>
              <a:tr h="280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Baseline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-26pp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+10pp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000" y="1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groq-scout (Llama 4 Scout MoE)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000" y="1700000"/>
          <a:ext cx="5000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1800000"/>
                <a:gridCol w="1000000"/>
                <a:gridCol w="1400000"/>
              </a:tblGrid>
              <a:tr h="280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Baseline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multi_agent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-36pp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-12pp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input_filter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-4pp</a:t>
                      </a:r>
                    </a:p>
                  </a:txBody>
                  <a:tcPr/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human_in_loop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-4pp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TextBox 147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0000" y="14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1. Llama 4 Scout is significantly more robust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0000" y="16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All defenses combined achieved 0% ASR and $0 financial impact -- complete attack shutdown. Qwen3 still allowed 12% through.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0000" y="21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2. Different models need different defenses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0000" y="23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output_validator is the MVP for Qwen3 (ASR 38% to 12%), while multi_agent is best for Scout (ASR 42% to 6%).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0000" y="28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3. Input filtering alone is counterproductive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0000" y="30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ASR increased from 38% to 48% on Qwen3 with input_filter only. Filter may interfere with agent reasoning.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0000" y="35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4. Layered defense is essential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0000" y="37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No single defense is sufficient. Combined approach reduces financial impact by 80-100% ($160M to $0-32M).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0000" y="42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5. Detection rates are generally poor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00000" y="4480000"/>
            <a:ext cx="10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Only output_validator achieves meaningful detection (54%). Most defenses block without flagging -- poor observability.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