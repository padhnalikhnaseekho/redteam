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Red Teaming Agentic AI: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74C3C"/>
                </a:solidFill>
                <a:latin typeface="Calibri"/>
              </a:rPr>
              <a:t>Attack, Discover, Defend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888888"/>
                </a:solidFill>
                <a:latin typeface="Calibri"/>
              </a:rPr>
              <a:t>Defense Layering Experiment  |  Target: groq-qwen  |  IIT Bombay EPGD AI/ML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Challenges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1. LLM-as-Judge too strict, inflated keyword matching too lenient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Agentic Critic (LLM-as-judge) gave 0% ASR against Scout, while v1 keyword matching gave 42%. Root cause: keywords like 'maximum', 'approved' appear in REFUSAL context. Solution: use v1 evaluator for fair comparison, add LLM judge as secondary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2. Groq rate limits constrain experiment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Free tier: 6000 TPM per model. Multi-step agentic attacks consume 3-5 API calls each. Solution: --delay 5, use different models for attacker vs target (separate quotas).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3. Strong models (Scout) too robust for meaningful attack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Llama 4 Scout achieved near-0% ASR even without defenses. No room to show defense improvement. Solution: use Qwen3 32B as target (38% baseline ASR) to demonstrate the defense layering narrative.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199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4. Agentic planner generates weaker attacks than hand-crafted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LLM-generated attack plans are less targeted than domain-expert-designed v1 attacks. The v1 library encodes specific commodity trading knowledge (fake OPEC news, LME data manipulation). Solution: combine both -- v1 attacks for breadth, agentic for adaptive evolution.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Solution: Layered Defense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27432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Layer 1: Rule-Based (D1-D5)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Regex input filter, output validation (position limits, risk checks, price sanity), system prompt hardening, human-in-loop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3657600" cy="274320"/>
          </a:xfrm>
          <a:prstGeom prst="rect">
            <a:avLst/>
          </a:prstGeom>
          <a:solidFill>
            <a:srgbClr val="8E44AD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Layer 2: ML-Based (D6-D7)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D6 Semantic similarity: sentence-transformer embeddings + cosine similarity (sim &gt; 0.50 blocks). D7 Perplexity filter: GPT-2 sliding-window spike detection (z &gt; 2.5 blocks).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3657600" cy="274320"/>
          </a:xfrm>
          <a:prstGeom prst="rect">
            <a:avLst/>
          </a:prstGeom>
          <a:solidFill>
            <a:srgbClr val="27AE60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Layer 3: Ensemble (D8)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XGBoost classifier trained on features from all defense signals. Learns optimal combination vs any-block voting.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Rule-based defenses catch obvious attacks. ML defenses catch paraphrased/obfuscated variants that evade regex. Ensemble learns which defense signals matter most.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Results: Defense Layer Comparison</a:t>
            </a:r>
          </a:p>
        </p:txBody>
      </p:sp>
      <p:pic>
        <p:nvPicPr>
          <p:cNvPr id="3" name="Picture 2" descr="defense_layer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Results: Key Metrics by Condition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 no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ASR: 36%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30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Success: 18/50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780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Blocked: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254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Impact: $106.5M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729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Bayes CI: [0.24, 0.50]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371600"/>
            <a:ext cx="2560320" cy="27432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 rule 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83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ASR: 12%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30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Success: 6/50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4780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Blocked: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8254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Impact: $30.0M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1729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Bayes CI: [0.06, 0.24]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371600"/>
            <a:ext cx="2560320" cy="274320"/>
          </a:xfrm>
          <a:prstGeom prst="rect">
            <a:avLst/>
          </a:prstGeom>
          <a:solidFill>
            <a:srgbClr val="8E44AD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 ml based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83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ASR: 24%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30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Success: 12/50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780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Blocked: 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254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Impact: $59.5M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1729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Bayes CI: [0.14, 0.37]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371600"/>
            <a:ext cx="2560320" cy="274320"/>
          </a:xfrm>
          <a:prstGeom prst="rect">
            <a:avLst/>
          </a:prstGeom>
          <a:solidFill>
            <a:srgbClr val="27AE60"/>
          </a:solidFill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 all combined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783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ASR: 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130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Success: 4/50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4780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Blocked: 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8254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Impact: $18.0M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1729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Bayes CI: [0.03, 0.19]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14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Statistical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34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A_no_defense vs B_rule_based: p=0.0100 *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A_no_defense vs C_ml_based: p=0.2752 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74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74C3C"/>
                </a:solidFill>
                <a:latin typeface="Calibri"/>
              </a:rPr>
              <a:t>A_no_defense vs D_all_combined: p=0.0017 **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94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B_rule_based vs C_ml_based: p=0.1931 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Cross-Model Comparison</a:t>
            </a:r>
          </a:p>
        </p:txBody>
      </p:sp>
      <p:pic>
        <p:nvPicPr>
          <p:cNvPr id="3" name="Picture 2" descr="cross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ML/AI Techniques (Course Module Alignment)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2: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D6 Semantic Filter -- all-MiniLM-L6-v2 (384-dim), cosine similarity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2: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D8 XGBoost -- gradient boosting on defense signal features, 5-fold CV 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2: Transfer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Attack transferability matrix -- Fisher's exact test across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3: Agentic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v2 Planner/Critic/Mutator agents, LangChain ReAct target agent with 7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4: Model 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Bayesian Beta-Binomial, mutual information, ROC/AUC, Shapley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980B9"/>
                </a:solidFill>
                <a:latin typeface="Calibri"/>
              </a:rPr>
              <a:t>Module 4: XAI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SHAP TreeExplainer -- feature attribution for attack success prediction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333333"/>
                </a:solidFill>
                <a:latin typeface="Calibri"/>
              </a:rPr>
              <a:t>Open Items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1. Train ensemble defense (D8) on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Requires labeled dataset from all conditions. XGBoost learns optimal signal combination. Expected: better than any-block voting, measurable via cross-validated AUC.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2. Improve LLM-as-judge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Current Critic is too strict (0% on robust models). Need calibration dataset with human-annotated ground truth to tune confidence thresholds.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3. Run with paid models (GPT-4o, Claude) for broader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Current results are Groq free-tier only. Paid models may show different vulnerability profiles and defense effectiveness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399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4. Adversarial training: fine-tune target on successful attacks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Use successful attack payloads as negative examples during fine-tuning (Module 2). Measure post-training robustness improvement.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1A1A"/>
                </a:solidFill>
                <a:latin typeface="Calibri"/>
              </a:rPr>
              <a:t>5. Deploy as CI/CD red-team pipeline (Module 1/4)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Calibri"/>
              </a:rPr>
              <a:t>Containerize the benchmark, run on model version updates. Track ASR over model versions for regression detection.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